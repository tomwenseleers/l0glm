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886" y="6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22EB-0EAF-AC62-240C-D2DE1102A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1D905-4225-853B-C73D-DC1646206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37D93-35D8-D1B2-241E-8B9DDD726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6404-2571-499A-B701-48E4A4EB34E2}" type="datetimeFigureOut">
              <a:rPr lang="en-BE" smtClean="0"/>
              <a:t>11/06/2025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C62A7-F997-C492-3C01-CCDAA228B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9B5AC-3F5C-CFE0-C831-B9D38315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96CA-4C53-4342-820F-CF60BB8C4F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36841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9BB38-6C12-C2B7-5337-5FD620BDF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43223-292A-4D87-77B1-273662C46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F9AF3-D1BB-B763-5B1A-2C1906646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6404-2571-499A-B701-48E4A4EB34E2}" type="datetimeFigureOut">
              <a:rPr lang="en-BE" smtClean="0"/>
              <a:t>11/06/2025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DCD5F-7D55-C1AC-8F03-69F1E300A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D8941-1CB7-EDE9-800D-085C788B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96CA-4C53-4342-820F-CF60BB8C4F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3914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6D15-5FF7-E1D0-98E8-86D9C0FB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929B5-3D5D-8C91-948E-E7A014FF3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0A403-ECE8-0E3B-D3CF-A5F62522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6404-2571-499A-B701-48E4A4EB34E2}" type="datetimeFigureOut">
              <a:rPr lang="en-BE" smtClean="0"/>
              <a:t>11/06/2025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FAC8A-8C6D-D538-9D2D-9B4C91FB5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8BCB4-8903-35DC-EB14-169DD3A08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96CA-4C53-4342-820F-CF60BB8C4F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29518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036A-43BB-E4CC-A2FE-34BD53CE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C4A18-6563-03E0-0CCD-3F2FEE68A4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CCCFF-38A5-3876-2874-3FB8391F2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98290-A152-C615-CEDB-AB90E7AE5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6404-2571-499A-B701-48E4A4EB34E2}" type="datetimeFigureOut">
              <a:rPr lang="en-BE" smtClean="0"/>
              <a:t>11/06/2025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0F912-D85A-4A7F-49FA-20CDE8BE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F79AD-2B2B-EB27-B2CD-37F6CDF1A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96CA-4C53-4342-820F-CF60BB8C4F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193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1EBAE-EBBC-6875-560E-FCA09ECFA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27F0B-F533-AEE1-063E-2EC5378B7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BA12B-F6F3-384C-7BF7-8A7DD9966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C7EA62-97E7-7DB6-50BE-4BC1F7DA7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EE6C0-74DF-73CB-77C3-D663E1870E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34C46F-8744-D559-76F6-199B93575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6404-2571-499A-B701-48E4A4EB34E2}" type="datetimeFigureOut">
              <a:rPr lang="en-BE" smtClean="0"/>
              <a:t>11/06/2025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DBBDCB-0732-19EF-1CA5-171EB865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CBC4E-3C16-50D0-B7EE-3E2FC803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96CA-4C53-4342-820F-CF60BB8C4F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08102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9B79D-075E-4DE2-72E8-C6DEAF43C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B2D5AA-C341-D91E-FB8D-66194AED9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6404-2571-499A-B701-48E4A4EB34E2}" type="datetimeFigureOut">
              <a:rPr lang="en-BE" smtClean="0"/>
              <a:t>11/06/2025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6D83E-FE1E-6F3A-61C4-2FE50611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6AA4B-CF44-4AE6-D939-101F3C65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96CA-4C53-4342-820F-CF60BB8C4F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78463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4B10C9-CF9B-4771-7FF1-01B54A2E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6404-2571-499A-B701-48E4A4EB34E2}" type="datetimeFigureOut">
              <a:rPr lang="en-BE" smtClean="0"/>
              <a:t>11/06/2025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2EF16-FC5E-9F7A-0050-2AD26ECD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518CE-0F7D-659F-23AA-DE9322BE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96CA-4C53-4342-820F-CF60BB8C4F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14283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45FF3-BCD3-1DB3-7913-AF94B9320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D929F-5C42-EFB1-A283-79DF41AEF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F67BD-3674-732B-3A1D-7BDB2D069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F152D-582A-E7D5-3174-CD8665D94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6404-2571-499A-B701-48E4A4EB34E2}" type="datetimeFigureOut">
              <a:rPr lang="en-BE" smtClean="0"/>
              <a:t>11/06/2025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737B9-1E8E-05A5-5590-5AD01C5C0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AF684-3E9D-0D55-F232-30CCE86BA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96CA-4C53-4342-820F-CF60BB8C4F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8439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3A69D-B668-5D33-4A55-35738673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5419A9-D1B9-BC0D-6341-30DFFB614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18494F-046E-DBDB-02DD-DD484BDDA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75051-BBDE-199D-BD9C-6394AB2A4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6404-2571-499A-B701-48E4A4EB34E2}" type="datetimeFigureOut">
              <a:rPr lang="en-BE" smtClean="0"/>
              <a:t>11/06/2025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20635-98B1-1DE5-8888-5B984FD8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02CE2-7B72-146B-13BF-F9DC66C85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96CA-4C53-4342-820F-CF60BB8C4F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74582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D7CA-FD96-1412-9172-F595CC64D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5ABE8-D4A1-3953-49D0-4C57F97DA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86A09-3D8B-3A81-E310-0CF494BF2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6404-2571-499A-B701-48E4A4EB34E2}" type="datetimeFigureOut">
              <a:rPr lang="en-BE" smtClean="0"/>
              <a:t>11/06/2025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B2A02-69BA-ADA9-2294-485C0391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DFBFC-48BC-3206-52CF-31752D46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96CA-4C53-4342-820F-CF60BB8C4F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04237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A5302F-8714-0840-BD25-E03DDB2C7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1A733-B318-E3E1-8238-A71A07832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1BF44-2CF7-E6DD-759B-0866F7EA9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6404-2571-499A-B701-48E4A4EB34E2}" type="datetimeFigureOut">
              <a:rPr lang="en-BE" smtClean="0"/>
              <a:t>11/06/2025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9C472-EA42-8B78-B002-70DC81747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D872B-E6FB-2999-B7AC-9B5B0F69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96CA-4C53-4342-820F-CF60BB8C4F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3088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5CADCE-7CB1-C937-4E72-D17DBDF1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423FE-EB20-8FBE-0DA9-A8ECDA598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89005-0C69-DC7D-3566-B6502CDF0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EC6404-2571-499A-B701-48E4A4EB34E2}" type="datetimeFigureOut">
              <a:rPr lang="en-BE" smtClean="0"/>
              <a:t>11/06/2025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C1DF9-E804-C44E-58FA-71CEDA03A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D4980-DAF9-C85E-81DB-65B7F93D0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196CA-4C53-4342-820F-CF60BB8C4F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61207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3B561-D088-1D4D-FC20-EC4F17BD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229F7E0-00AF-560B-E050-C38897EA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7681"/>
            <a:ext cx="12192000" cy="317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283FB7-1D3A-A32B-5B7D-F5E52B6B4614}"/>
              </a:ext>
            </a:extLst>
          </p:cNvPr>
          <p:cNvSpPr txBox="1"/>
          <p:nvPr/>
        </p:nvSpPr>
        <p:spPr>
          <a:xfrm>
            <a:off x="9199575" y="1833822"/>
            <a:ext cx="1661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>
                <a:solidFill>
                  <a:schemeClr val="accent5">
                    <a:lumMod val="75000"/>
                  </a:schemeClr>
                </a:solidFill>
              </a:rPr>
              <a:t>7-Methylnonacosane</a:t>
            </a:r>
            <a:br>
              <a:rPr lang="en-GB" sz="1200" b="1">
                <a:solidFill>
                  <a:schemeClr val="accent5">
                    <a:lumMod val="75000"/>
                  </a:schemeClr>
                </a:solidFill>
              </a:rPr>
            </a:br>
            <a:r>
              <a:rPr lang="en-GB" sz="1200" b="1">
                <a:solidFill>
                  <a:schemeClr val="accent5">
                    <a:lumMod val="75000"/>
                  </a:schemeClr>
                </a:solidFill>
              </a:rPr>
              <a:t>112+336</a:t>
            </a:r>
            <a:br>
              <a:rPr lang="en-GB" sz="1200" b="1">
                <a:solidFill>
                  <a:schemeClr val="accent5">
                    <a:lumMod val="75000"/>
                  </a:schemeClr>
                </a:solidFill>
              </a:rPr>
            </a:br>
            <a:r>
              <a:rPr lang="en-GB" sz="1200" b="1">
                <a:solidFill>
                  <a:schemeClr val="accent5">
                    <a:lumMod val="75000"/>
                  </a:schemeClr>
                </a:solidFill>
              </a:rPr>
              <a:t>RT 27.11</a:t>
            </a:r>
            <a:endParaRPr lang="en-BE" sz="12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65336C-E58D-D92D-0C97-AA5E5D24EE9E}"/>
              </a:ext>
            </a:extLst>
          </p:cNvPr>
          <p:cNvSpPr txBox="1"/>
          <p:nvPr/>
        </p:nvSpPr>
        <p:spPr>
          <a:xfrm>
            <a:off x="6446019" y="1833821"/>
            <a:ext cx="1661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>
                <a:solidFill>
                  <a:srgbClr val="C00000"/>
                </a:solidFill>
              </a:rPr>
              <a:t>9-Methylnonacosane</a:t>
            </a:r>
            <a:br>
              <a:rPr lang="en-GB" sz="1200" b="1">
                <a:solidFill>
                  <a:srgbClr val="C00000"/>
                </a:solidFill>
              </a:rPr>
            </a:br>
            <a:r>
              <a:rPr lang="en-GB" sz="1200" b="1">
                <a:solidFill>
                  <a:srgbClr val="C00000"/>
                </a:solidFill>
              </a:rPr>
              <a:t>140+308</a:t>
            </a:r>
            <a:br>
              <a:rPr lang="en-GB" sz="1200" b="1">
                <a:solidFill>
                  <a:srgbClr val="C00000"/>
                </a:solidFill>
              </a:rPr>
            </a:br>
            <a:r>
              <a:rPr lang="en-GB" sz="1200" b="1">
                <a:solidFill>
                  <a:srgbClr val="C00000"/>
                </a:solidFill>
              </a:rPr>
              <a:t>RT 27.01</a:t>
            </a:r>
            <a:endParaRPr lang="en-BE" sz="1200" b="1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8CBD81-9047-C279-388D-C654BA094D3C}"/>
              </a:ext>
            </a:extLst>
          </p:cNvPr>
          <p:cNvSpPr txBox="1"/>
          <p:nvPr/>
        </p:nvSpPr>
        <p:spPr>
          <a:xfrm>
            <a:off x="4342254" y="2695912"/>
            <a:ext cx="1742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11-Methylnonacosane</a:t>
            </a:r>
            <a:br>
              <a:rPr lang="en-GB" sz="1200" b="1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GB" sz="12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168+280</a:t>
            </a:r>
            <a:br>
              <a:rPr lang="en-GB" sz="1200" b="1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GB" sz="12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RT 26.95</a:t>
            </a:r>
            <a:endParaRPr lang="en-BE" sz="1200"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F3EB5A-3BCE-DD13-E0AF-5164430EA854}"/>
              </a:ext>
            </a:extLst>
          </p:cNvPr>
          <p:cNvSpPr txBox="1"/>
          <p:nvPr/>
        </p:nvSpPr>
        <p:spPr>
          <a:xfrm>
            <a:off x="2864611" y="2222471"/>
            <a:ext cx="1742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>
                <a:solidFill>
                  <a:srgbClr val="00B050"/>
                </a:solidFill>
              </a:rPr>
              <a:t>13-Methylnonacosane</a:t>
            </a:r>
            <a:br>
              <a:rPr lang="en-GB" sz="1200" b="1">
                <a:solidFill>
                  <a:srgbClr val="00B050"/>
                </a:solidFill>
              </a:rPr>
            </a:br>
            <a:r>
              <a:rPr lang="en-GB" sz="1200" b="1">
                <a:solidFill>
                  <a:srgbClr val="00B050"/>
                </a:solidFill>
              </a:rPr>
              <a:t>196+252</a:t>
            </a:r>
            <a:br>
              <a:rPr lang="en-GB" sz="1200" b="1">
                <a:solidFill>
                  <a:srgbClr val="00B050"/>
                </a:solidFill>
              </a:rPr>
            </a:br>
            <a:r>
              <a:rPr lang="en-GB" sz="1200" b="1">
                <a:solidFill>
                  <a:srgbClr val="00B050"/>
                </a:solidFill>
              </a:rPr>
              <a:t>RT 26.91</a:t>
            </a:r>
            <a:endParaRPr lang="en-BE" sz="1200" b="1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D16303-867A-73C2-37E4-1BD9FC6360E1}"/>
              </a:ext>
            </a:extLst>
          </p:cNvPr>
          <p:cNvSpPr txBox="1"/>
          <p:nvPr/>
        </p:nvSpPr>
        <p:spPr>
          <a:xfrm>
            <a:off x="1266079" y="2049581"/>
            <a:ext cx="1742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>
                <a:solidFill>
                  <a:srgbClr val="3333CC"/>
                </a:solidFill>
              </a:rPr>
              <a:t>15-Methylnonacosane</a:t>
            </a:r>
            <a:br>
              <a:rPr lang="en-GB" sz="1200" b="1">
                <a:solidFill>
                  <a:srgbClr val="3333CC"/>
                </a:solidFill>
              </a:rPr>
            </a:br>
            <a:r>
              <a:rPr lang="en-GB" sz="1200" b="1">
                <a:solidFill>
                  <a:srgbClr val="3333CC"/>
                </a:solidFill>
              </a:rPr>
              <a:t>224+225</a:t>
            </a:r>
            <a:br>
              <a:rPr lang="en-GB" sz="1200" b="1">
                <a:solidFill>
                  <a:srgbClr val="3333CC"/>
                </a:solidFill>
              </a:rPr>
            </a:br>
            <a:r>
              <a:rPr lang="en-GB" sz="1200" b="1">
                <a:solidFill>
                  <a:srgbClr val="3333CC"/>
                </a:solidFill>
              </a:rPr>
              <a:t>RT 26.84</a:t>
            </a:r>
            <a:endParaRPr lang="en-BE" sz="1200" b="1">
              <a:solidFill>
                <a:srgbClr val="3333CC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C86925-861C-C459-1105-42A752D3B915}"/>
              </a:ext>
            </a:extLst>
          </p:cNvPr>
          <p:cNvSpPr txBox="1"/>
          <p:nvPr/>
        </p:nvSpPr>
        <p:spPr>
          <a:xfrm>
            <a:off x="3074178" y="3401108"/>
            <a:ext cx="2542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>
                <a:solidFill>
                  <a:srgbClr val="00B0F0"/>
                </a:solidFill>
              </a:rPr>
              <a:t>Cyclodecasiloxane, eicosamethyl</a:t>
            </a:r>
            <a:br>
              <a:rPr lang="en-GB" sz="1200" b="1">
                <a:solidFill>
                  <a:srgbClr val="00B0F0"/>
                </a:solidFill>
              </a:rPr>
            </a:br>
            <a:r>
              <a:rPr lang="en-GB" sz="1200" b="1">
                <a:solidFill>
                  <a:srgbClr val="00B0F0"/>
                </a:solidFill>
              </a:rPr>
              <a:t>73+147+221+281+355++429+503</a:t>
            </a:r>
            <a:br>
              <a:rPr lang="en-GB" sz="1200" b="1">
                <a:solidFill>
                  <a:srgbClr val="00B0F0"/>
                </a:solidFill>
              </a:rPr>
            </a:br>
            <a:r>
              <a:rPr lang="en-GB" sz="1200" b="1">
                <a:solidFill>
                  <a:srgbClr val="00B0F0"/>
                </a:solidFill>
              </a:rPr>
              <a:t>RT 26.95 </a:t>
            </a:r>
            <a:endParaRPr lang="en-BE" sz="1200" b="1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E1D47A-28CA-CB49-17F6-A173F5EA1768}"/>
              </a:ext>
            </a:extLst>
          </p:cNvPr>
          <p:cNvSpPr txBox="1"/>
          <p:nvPr/>
        </p:nvSpPr>
        <p:spPr>
          <a:xfrm>
            <a:off x="81019" y="215146"/>
            <a:ext cx="113179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AMDIS DECONVOLUTION </a:t>
            </a:r>
            <a:r>
              <a:rPr lang="en-GB" b="1" i="1"/>
              <a:t>Cataglyphis iberica</a:t>
            </a:r>
            <a:r>
              <a:rPr lang="en-GB" b="1"/>
              <a:t> queen cuticular hydrocarbon sample CI23_Q_120828_01.CDF</a:t>
            </a:r>
            <a:br>
              <a:rPr lang="en-GB" b="1"/>
            </a:br>
            <a:r>
              <a:rPr lang="en-GB"/>
              <a:t>(AMDIS detected peaks are indicated with arrows at the top, manual annotations indicated below) </a:t>
            </a:r>
            <a:br>
              <a:rPr lang="en-GB" b="1"/>
            </a:br>
            <a:r>
              <a:rPr lang="en-GB"/>
              <a:t>cf. Van Oystaeyen </a:t>
            </a:r>
            <a:r>
              <a:rPr lang="en-GB" i="1"/>
              <a:t>et al. Science </a:t>
            </a:r>
            <a:r>
              <a:rPr lang="en-GB"/>
              <a:t>2014</a:t>
            </a:r>
            <a:endParaRPr lang="en-BE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308EC7-8400-B8AF-AFF0-A9009F788890}"/>
              </a:ext>
            </a:extLst>
          </p:cNvPr>
          <p:cNvCxnSpPr/>
          <p:nvPr/>
        </p:nvCxnSpPr>
        <p:spPr>
          <a:xfrm>
            <a:off x="8767187" y="1567543"/>
            <a:ext cx="0" cy="256233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30C8CFA-3B96-F015-A400-496C49500760}"/>
              </a:ext>
            </a:extLst>
          </p:cNvPr>
          <p:cNvCxnSpPr/>
          <p:nvPr/>
        </p:nvCxnSpPr>
        <p:spPr>
          <a:xfrm>
            <a:off x="5980444" y="1582220"/>
            <a:ext cx="0" cy="25623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11BEF88-2C30-B1F2-C016-74832F34E626}"/>
              </a:ext>
            </a:extLst>
          </p:cNvPr>
          <p:cNvCxnSpPr/>
          <p:nvPr/>
        </p:nvCxnSpPr>
        <p:spPr>
          <a:xfrm>
            <a:off x="4345912" y="1582220"/>
            <a:ext cx="0" cy="256233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E2B9F7-F5E8-685C-EDDA-1C633750B8E1}"/>
              </a:ext>
            </a:extLst>
          </p:cNvPr>
          <p:cNvCxnSpPr/>
          <p:nvPr/>
        </p:nvCxnSpPr>
        <p:spPr>
          <a:xfrm>
            <a:off x="4232031" y="1582220"/>
            <a:ext cx="0" cy="256233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7461F9A-813B-57B4-50F2-73866F200274}"/>
              </a:ext>
            </a:extLst>
          </p:cNvPr>
          <p:cNvCxnSpPr/>
          <p:nvPr/>
        </p:nvCxnSpPr>
        <p:spPr>
          <a:xfrm>
            <a:off x="3133411" y="1654016"/>
            <a:ext cx="0" cy="256233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76ACAD-7F5F-33C2-8878-EC532617D8B3}"/>
              </a:ext>
            </a:extLst>
          </p:cNvPr>
          <p:cNvCxnSpPr/>
          <p:nvPr/>
        </p:nvCxnSpPr>
        <p:spPr>
          <a:xfrm>
            <a:off x="2783393" y="1582220"/>
            <a:ext cx="0" cy="2562330"/>
          </a:xfrm>
          <a:prstGeom prst="line">
            <a:avLst/>
          </a:prstGeom>
          <a:ln>
            <a:solidFill>
              <a:srgbClr val="333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820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Wenseleers</dc:creator>
  <cp:lastModifiedBy>Tom Wenseleers</cp:lastModifiedBy>
  <cp:revision>7</cp:revision>
  <dcterms:created xsi:type="dcterms:W3CDTF">2025-06-07T20:09:23Z</dcterms:created>
  <dcterms:modified xsi:type="dcterms:W3CDTF">2025-06-11T06:29:45Z</dcterms:modified>
</cp:coreProperties>
</file>